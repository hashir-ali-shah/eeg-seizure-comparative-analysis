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3"/>
    <p:sldId id="269" r:id="rId4"/>
    <p:sldId id="257" r:id="rId5"/>
    <p:sldId id="258" r:id="rId6"/>
    <p:sldId id="259" r:id="rId7"/>
    <p:sldId id="260" r:id="rId8"/>
    <p:sldId id="261" r:id="rId9"/>
    <p:sldId id="262" r:id="rId11"/>
    <p:sldId id="267" r:id="rId12"/>
    <p:sldId id="263" r:id="rId13"/>
    <p:sldId id="264" r:id="rId14"/>
    <p:sldId id="26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011680"/>
            <a:ext cx="73152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7315200" cy="2286000"/>
          </a:xfrm>
          <a:prstGeom prst="rect">
            <a:avLst/>
          </a:prstGeom>
          <a:noFill/>
        </p:spPr>
        <p:txBody>
          <a:bodyPr wrap="square">
            <a:spAutoFit/>
          </a:bodyPr>
          <a:lstStyle/>
          <a:p>
            <a:pPr algn="ctr">
              <a:defRPr sz="4000" b="1">
                <a:solidFill>
                  <a:srgbClr val="FFFFFF"/>
                </a:solidFill>
                <a:latin typeface="Georgia" panose="02040502050405020303"/>
              </a:defRPr>
            </a:pPr>
            <a:r>
              <a:t>Epileptic Seizure Prediction</a:t>
            </a:r>
          </a:p>
          <a:p>
            <a:pPr algn="ctr">
              <a:spcBef>
                <a:spcPts val="800"/>
              </a:spcBef>
              <a:defRPr sz="2000">
                <a:solidFill>
                  <a:srgbClr val="94A3B8"/>
                </a:solidFill>
                <a:latin typeface="Calibri" panose="020F0502020204030204"/>
              </a:defRPr>
            </a:pPr>
            <a:r>
              <a:t>Preprocessing, Regularization &amp; Imbalance Study</a:t>
            </a:r>
          </a:p>
          <a:p>
            <a:pPr algn="ctr">
              <a:spcBef>
                <a:spcPts val="2400"/>
              </a:spcBef>
              <a:defRPr sz="1100" i="1">
                <a:solidFill>
                  <a:srgbClr val="0D9488"/>
                </a:solidFill>
                <a:latin typeface="Calibri" panose="020F0502020204030204"/>
              </a:defRPr>
            </a:pPr>
            <a:r>
              <a:t>IEEE-Style Empirical Investigation | Baseline Logistic Regression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non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none">
            <a:spAutoFit/>
          </a:bodyPr>
          <a:lstStyle/>
          <a:p>
            <a:pPr>
              <a:defRPr sz="2400" b="1">
                <a:solidFill>
                  <a:srgbClr val="FFFFFF"/>
                </a:solidFill>
                <a:latin typeface="Georgia" panose="02040502050405020303"/>
              </a:defRPr>
            </a:pPr>
            <a:r>
              <a:t>Defining Preprocessing Pipelines</a:t>
            </a:r>
          </a:p>
        </p:txBody>
      </p:sp>
      <p:sp>
        <p:nvSpPr>
          <p:cNvPr id="5" name="TextBox 4"/>
          <p:cNvSpPr txBox="1"/>
          <p:nvPr/>
        </p:nvSpPr>
        <p:spPr>
          <a:xfrm>
            <a:off x="457200" y="1477010"/>
            <a:ext cx="4114800" cy="4019550"/>
          </a:xfrm>
          <a:prstGeom prst="rect">
            <a:avLst/>
          </a:prstGeom>
          <a:noFill/>
        </p:spPr>
        <p:txBody>
          <a:bodyPr wrap="square">
            <a:noAutofit/>
          </a:bodyPr>
          <a:lstStyle/>
          <a:p>
            <a:pPr>
              <a:spcAft>
                <a:spcPts val="1000"/>
              </a:spcAft>
            </a:pPr>
            <a:r>
              <a:rPr lang="en-US" altLang="en-US" b="1">
                <a:solidFill>
                  <a:schemeClr val="bg1"/>
                </a:solidFill>
                <a:latin typeface="Calibri" panose="020F0502020204030204"/>
              </a:rPr>
              <a:t>Pipeline A (Filter-First Approach)</a:t>
            </a:r>
            <a:endParaRPr lang="en-US" altLang="en-US">
              <a:solidFill>
                <a:srgbClr val="94A3B8"/>
              </a:solidFill>
              <a:latin typeface="Calibri" panose="020F0502020204030204"/>
            </a:endParaRPr>
          </a:p>
          <a:p>
            <a:pPr>
              <a:spcAft>
                <a:spcPts val="1000"/>
              </a:spcAft>
            </a:pPr>
            <a:r>
              <a:rPr lang="en-US" altLang="en-US">
                <a:solidFill>
                  <a:srgbClr val="94A3B8"/>
                </a:solidFill>
                <a:latin typeface="Calibri" panose="020F0502020204030204"/>
              </a:rPr>
              <a:t>Raw EEG → Bandpass Filtering → Statistical Feature Extraction → Imputation (if needed)</a:t>
            </a:r>
            <a:endParaRPr lang="en-US" altLang="en-US">
              <a:solidFill>
                <a:srgbClr val="94A3B8"/>
              </a:solidFill>
              <a:latin typeface="Calibri" panose="020F0502020204030204"/>
            </a:endParaRPr>
          </a:p>
          <a:p>
            <a:pPr>
              <a:spcAft>
                <a:spcPts val="1000"/>
              </a:spcAft>
            </a:pPr>
            <a:r>
              <a:rPr lang="en-US" altLang="en-US" b="1">
                <a:solidFill>
                  <a:schemeClr val="bg1"/>
                </a:solidFill>
                <a:latin typeface="Calibri" panose="020F0502020204030204"/>
              </a:rPr>
              <a:t>Rationale:</a:t>
            </a:r>
            <a:endParaRPr lang="en-US" altLang="en-US" b="1">
              <a:solidFill>
                <a:schemeClr val="bg1"/>
              </a:solidFill>
              <a:latin typeface="Calibri" panose="020F0502020204030204"/>
            </a:endParaRPr>
          </a:p>
          <a:p>
            <a:pPr>
              <a:spcAft>
                <a:spcPts val="1000"/>
              </a:spcAft>
            </a:pPr>
            <a:r>
              <a:rPr lang="en-US" altLang="en-US">
                <a:solidFill>
                  <a:srgbClr val="94A3B8"/>
                </a:solidFill>
                <a:latin typeface="Calibri" panose="020F0502020204030204"/>
              </a:rPr>
              <a:t>Applies bandpass filtering (0.5–40 Hz) before feature extraction to remove noise such as muscle artifacts and power line interference. This ensures that statistical features are computed on a cleaner neural signal, improving signal-to-noise ratio and feature stability.</a:t>
            </a:r>
            <a:endParaRPr lang="en-US" altLang="en-US">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p:txBody>
      </p:sp>
      <p:sp>
        <p:nvSpPr>
          <p:cNvPr id="7" name="TextBox 4"/>
          <p:cNvSpPr txBox="1"/>
          <p:nvPr/>
        </p:nvSpPr>
        <p:spPr>
          <a:xfrm>
            <a:off x="4896485" y="1477010"/>
            <a:ext cx="4114800" cy="4086225"/>
          </a:xfrm>
          <a:prstGeom prst="rect">
            <a:avLst/>
          </a:prstGeom>
          <a:noFill/>
        </p:spPr>
        <p:txBody>
          <a:bodyPr wrap="square">
            <a:noAutofit/>
          </a:bodyPr>
          <a:lstStyle/>
          <a:p>
            <a:pPr>
              <a:spcAft>
                <a:spcPts val="1000"/>
              </a:spcAft>
            </a:pPr>
            <a:r>
              <a:rPr lang="en-US" altLang="en-US" b="1">
                <a:solidFill>
                  <a:schemeClr val="bg1"/>
                </a:solidFill>
                <a:latin typeface="Calibri" panose="020F0502020204030204"/>
              </a:rPr>
              <a:t>Pipeline B (Feature-First + Dimensionality Reduction)</a:t>
            </a:r>
            <a:endParaRPr lang="en-US" altLang="en-US">
              <a:solidFill>
                <a:srgbClr val="94A3B8"/>
              </a:solidFill>
              <a:latin typeface="Calibri" panose="020F0502020204030204"/>
            </a:endParaRPr>
          </a:p>
          <a:p>
            <a:pPr>
              <a:spcAft>
                <a:spcPts val="1000"/>
              </a:spcAft>
            </a:pPr>
            <a:r>
              <a:rPr lang="en-US" altLang="en-US">
                <a:solidFill>
                  <a:srgbClr val="94A3B8"/>
                </a:solidFill>
                <a:latin typeface="Calibri" panose="020F0502020204030204"/>
              </a:rPr>
              <a:t>Raw EEG → Statistical Feature Extraction → Scaling → PCA (95% variance retention)</a:t>
            </a:r>
            <a:endParaRPr lang="en-US" altLang="en-US">
              <a:solidFill>
                <a:srgbClr val="94A3B8"/>
              </a:solidFill>
              <a:latin typeface="Calibri" panose="020F0502020204030204"/>
            </a:endParaRPr>
          </a:p>
          <a:p>
            <a:pPr>
              <a:spcAft>
                <a:spcPts val="1000"/>
              </a:spcAft>
            </a:pPr>
            <a:r>
              <a:rPr lang="en-US" altLang="en-US" b="1">
                <a:solidFill>
                  <a:schemeClr val="bg1"/>
                </a:solidFill>
                <a:latin typeface="Calibri" panose="020F0502020204030204"/>
              </a:rPr>
              <a:t>Rationale:</a:t>
            </a:r>
            <a:endParaRPr lang="en-US" altLang="en-US" b="1">
              <a:solidFill>
                <a:schemeClr val="bg1"/>
              </a:solidFill>
              <a:latin typeface="Calibri" panose="020F0502020204030204"/>
            </a:endParaRPr>
          </a:p>
          <a:p>
            <a:pPr>
              <a:spcAft>
                <a:spcPts val="1000"/>
              </a:spcAft>
            </a:pPr>
            <a:r>
              <a:rPr lang="en-US" altLang="en-US">
                <a:solidFill>
                  <a:srgbClr val="94A3B8"/>
                </a:solidFill>
                <a:latin typeface="Calibri" panose="020F0502020204030204"/>
              </a:rPr>
              <a:t>Extracts statistical features directly from raw EEG signals, which may still contain noise. Standardization is applied to normalize feature scales, followed by PCA to reduce redundancy and compress feature space while retaining most variance.</a:t>
            </a:r>
            <a:endParaRPr lang="en-US" altLang="en-US">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Selected Datasets &amp; Rationale</a:t>
            </a:r>
          </a:p>
        </p:txBody>
      </p:sp>
      <p:sp>
        <p:nvSpPr>
          <p:cNvPr id="5" name="TextBox 4"/>
          <p:cNvSpPr txBox="1"/>
          <p:nvPr/>
        </p:nvSpPr>
        <p:spPr>
          <a:xfrm>
            <a:off x="457200" y="1371600"/>
            <a:ext cx="4114800" cy="4451350"/>
          </a:xfrm>
          <a:prstGeom prst="rect">
            <a:avLst/>
          </a:prstGeom>
          <a:noFill/>
        </p:spPr>
        <p:txBody>
          <a:bodyPr wrap="square">
            <a:spAutoFit/>
          </a:bodyPr>
          <a:lstStyle/>
          <a:p>
            <a:pPr>
              <a:spcAft>
                <a:spcPts val="800"/>
              </a:spcAft>
            </a:pPr>
            <a:r>
              <a:rPr b="1">
                <a:solidFill>
                  <a:srgbClr val="FFFFFF"/>
                </a:solidFill>
                <a:latin typeface="Calibri" panose="020F0502020204030204"/>
              </a:rPr>
              <a:t>Dataset 1 (BEED Tabular):</a:t>
            </a:r>
            <a:r>
              <a:rPr>
                <a:solidFill>
                  <a:srgbClr val="94A3B8"/>
                </a:solidFill>
                <a:latin typeface="Calibri" panose="020F0502020204030204"/>
              </a:rPr>
              <a:t> Pre-extracted static features (16 cols). Served as our low-dimensional control group (8,000 samples, 75.0% seizure).</a:t>
            </a:r>
            <a:endParaRPr>
              <a:solidFill>
                <a:srgbClr val="94A3B8"/>
              </a:solidFill>
              <a:latin typeface="Calibri" panose="020F0502020204030204"/>
            </a:endParaRPr>
          </a:p>
          <a:p>
            <a:pPr>
              <a:spcAft>
                <a:spcPts val="800"/>
              </a:spcAft>
            </a:pPr>
            <a:r>
              <a:rPr b="1">
                <a:solidFill>
                  <a:srgbClr val="FFFFFF"/>
                </a:solidFill>
                <a:latin typeface="Calibri" panose="020F0502020204030204"/>
              </a:rPr>
              <a:t>Dataset 2 (Recognition):</a:t>
            </a:r>
            <a:r>
              <a:rPr>
                <a:solidFill>
                  <a:srgbClr val="94A3B8"/>
                </a:solidFill>
                <a:latin typeface="Calibri" panose="020F0502020204030204"/>
              </a:rPr>
              <a:t> Tabularized 1-D flat time-series (178 time points). Moderately imbalanced (11,500 samples, 20.0% seizure). Used to evaluate temporal sequence patterns.</a:t>
            </a:r>
            <a:endParaRPr>
              <a:solidFill>
                <a:srgbClr val="94A3B8"/>
              </a:solidFill>
              <a:latin typeface="Calibri" panose="020F0502020204030204"/>
            </a:endParaRPr>
          </a:p>
          <a:p>
            <a:pPr>
              <a:spcAft>
                <a:spcPts val="800"/>
              </a:spcAft>
            </a:pPr>
            <a:r>
              <a:rPr b="1">
                <a:solidFill>
                  <a:srgbClr val="FFFFFF"/>
                </a:solidFill>
                <a:latin typeface="Calibri" panose="020F0502020204030204"/>
              </a:rPr>
              <a:t>Dataset 3 (EEG Analysis):</a:t>
            </a:r>
            <a:r>
              <a:rPr>
                <a:solidFill>
                  <a:srgbClr val="94A3B8"/>
                </a:solidFill>
                <a:latin typeface="Calibri" panose="020F0502020204030204"/>
              </a:rPr>
              <a:t> Raw 3-D multi-channel signals (23 channels x 250 time steps = 5,750 points). Moderately imbalanced (8,282 samples, 21.7% seizure). Represents complex real-world clinical waves.</a:t>
            </a:r>
            <a:endParaRPr>
              <a:solidFill>
                <a:srgbClr val="94A3B8"/>
              </a:solidFill>
              <a:latin typeface="Calibri" panose="020F0502020204030204"/>
            </a:endParaRPr>
          </a:p>
        </p:txBody>
      </p:sp>
      <p:pic>
        <p:nvPicPr>
          <p:cNvPr id="6" name="Picture 5" descr="dataset_justification.png"/>
          <p:cNvPicPr>
            <a:picLocks noChangeAspect="1"/>
          </p:cNvPicPr>
          <p:nvPr/>
        </p:nvPicPr>
        <p:blipFill>
          <a:blip r:embed="rId1"/>
          <a:stretch>
            <a:fillRect/>
          </a:stretch>
        </p:blipFill>
        <p:spPr>
          <a:xfrm>
            <a:off x="4636135" y="1831340"/>
            <a:ext cx="4116705" cy="3194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Dynamic Feature Compression Results</a:t>
            </a:r>
          </a:p>
        </p:txBody>
      </p:sp>
      <p:sp>
        <p:nvSpPr>
          <p:cNvPr id="5" name="TextBox 4"/>
          <p:cNvSpPr txBox="1"/>
          <p:nvPr/>
        </p:nvSpPr>
        <p:spPr>
          <a:xfrm>
            <a:off x="457200" y="1371600"/>
            <a:ext cx="4114800" cy="4276725"/>
          </a:xfrm>
          <a:prstGeom prst="rect">
            <a:avLst/>
          </a:prstGeom>
          <a:noFill/>
        </p:spPr>
        <p:txBody>
          <a:bodyPr wrap="square">
            <a:spAutoFit/>
          </a:bodyPr>
          <a:lstStyle/>
          <a:p>
            <a:pPr>
              <a:spcAft>
                <a:spcPts val="800"/>
              </a:spcAft>
            </a:pPr>
            <a:r>
              <a:rPr b="1">
                <a:solidFill>
                  <a:srgbClr val="FFFFFF"/>
                </a:solidFill>
                <a:latin typeface="Calibri" panose="020F0502020204030204"/>
              </a:rPr>
              <a:t>Clinical Extraction:</a:t>
            </a:r>
            <a:r>
              <a:rPr>
                <a:solidFill>
                  <a:srgbClr val="94A3B8"/>
                </a:solidFill>
                <a:latin typeface="Calibri" panose="020F0502020204030204"/>
              </a:rPr>
              <a:t> We collapsed raw waveforms into exactly 6 clinical moments: Mean, Standard Deviation, Max, Min, Skewness, and Kurtosis.</a:t>
            </a:r>
            <a:endParaRPr>
              <a:solidFill>
                <a:srgbClr val="94A3B8"/>
              </a:solidFill>
              <a:latin typeface="Calibri" panose="020F0502020204030204"/>
            </a:endParaRPr>
          </a:p>
          <a:p>
            <a:pPr>
              <a:spcAft>
                <a:spcPts val="800"/>
              </a:spcAft>
            </a:pPr>
            <a:r>
              <a:rPr b="1">
                <a:solidFill>
                  <a:srgbClr val="FFFFFF"/>
                </a:solidFill>
                <a:latin typeface="Calibri" panose="020F0502020204030204"/>
              </a:rPr>
              <a:t>Dataset 2 Windows:</a:t>
            </a:r>
            <a:r>
              <a:rPr>
                <a:solidFill>
                  <a:srgbClr val="94A3B8"/>
                </a:solidFill>
                <a:latin typeface="Calibri" panose="020F0502020204030204"/>
              </a:rPr>
              <a:t> Segmented into 5 equal windows to preserve chronological order (5 windows x 6 stats = 30 features).</a:t>
            </a:r>
            <a:endParaRPr>
              <a:solidFill>
                <a:srgbClr val="94A3B8"/>
              </a:solidFill>
              <a:latin typeface="Calibri" panose="020F0502020204030204"/>
            </a:endParaRPr>
          </a:p>
          <a:p>
            <a:pPr>
              <a:spcAft>
                <a:spcPts val="800"/>
              </a:spcAft>
            </a:pPr>
            <a:r>
              <a:rPr b="1">
                <a:solidFill>
                  <a:srgbClr val="FFFFFF"/>
                </a:solidFill>
                <a:latin typeface="Calibri" panose="020F0502020204030204"/>
              </a:rPr>
              <a:t>Dataset 3 Scalp Spatial:</a:t>
            </a:r>
            <a:r>
              <a:rPr>
                <a:solidFill>
                  <a:srgbClr val="94A3B8"/>
                </a:solidFill>
                <a:latin typeface="Calibri" panose="020F0502020204030204"/>
              </a:rPr>
              <a:t> Maintained 23 distinct electrode channels to preserve location (23 channels x 6 stats = 138 features).</a:t>
            </a:r>
            <a:endParaRPr>
              <a:solidFill>
                <a:srgbClr val="94A3B8"/>
              </a:solidFill>
              <a:latin typeface="Calibri" panose="020F0502020204030204"/>
            </a:endParaRPr>
          </a:p>
          <a:p>
            <a:pPr>
              <a:spcAft>
                <a:spcPts val="800"/>
              </a:spcAft>
            </a:pPr>
            <a:r>
              <a:rPr b="1">
                <a:solidFill>
                  <a:srgbClr val="FFFFFF"/>
                </a:solidFill>
                <a:latin typeface="Calibri" panose="020F0502020204030204"/>
              </a:rPr>
              <a:t>Visual Proof:</a:t>
            </a:r>
            <a:r>
              <a:rPr>
                <a:solidFill>
                  <a:srgbClr val="94A3B8"/>
                </a:solidFill>
                <a:latin typeface="Calibri" panose="020F0502020204030204"/>
              </a:rPr>
              <a:t> Dimension reduction isolates clinical signals and drops high-frequency temporal noise.</a:t>
            </a:r>
            <a:endParaRPr>
              <a:solidFill>
                <a:srgbClr val="94A3B8"/>
              </a:solidFill>
              <a:latin typeface="Calibri" panose="020F0502020204030204"/>
            </a:endParaRPr>
          </a:p>
        </p:txBody>
      </p:sp>
      <p:pic>
        <p:nvPicPr>
          <p:cNvPr id="6" name="Picture 5" descr="feature_compression_before_after.png"/>
          <p:cNvPicPr>
            <a:picLocks noChangeAspect="1"/>
          </p:cNvPicPr>
          <p:nvPr/>
        </p:nvPicPr>
        <p:blipFill>
          <a:blip r:embed="rId1"/>
          <a:stretch>
            <a:fillRect/>
          </a:stretch>
        </p:blipFill>
        <p:spPr>
          <a:xfrm>
            <a:off x="4572000" y="1716405"/>
            <a:ext cx="4114800" cy="30714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19685"/>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Preprocessing Pipelines: A vs. B</a:t>
            </a:r>
          </a:p>
        </p:txBody>
      </p:sp>
      <p:sp>
        <p:nvSpPr>
          <p:cNvPr id="5" name="TextBox 4"/>
          <p:cNvSpPr txBox="1"/>
          <p:nvPr/>
        </p:nvSpPr>
        <p:spPr>
          <a:xfrm>
            <a:off x="457200" y="1371600"/>
            <a:ext cx="4114800" cy="3897630"/>
          </a:xfrm>
          <a:prstGeom prst="rect">
            <a:avLst/>
          </a:prstGeom>
          <a:noFill/>
        </p:spPr>
        <p:txBody>
          <a:bodyPr wrap="square">
            <a:spAutoFit/>
          </a:bodyPr>
          <a:lstStyle/>
          <a:p>
            <a:pPr>
              <a:spcAft>
                <a:spcPts val="800"/>
              </a:spcAft>
            </a:pPr>
            <a:r>
              <a:rPr b="1">
                <a:solidFill>
                  <a:srgbClr val="FFFFFF"/>
                </a:solidFill>
                <a:latin typeface="Calibri" panose="020F0502020204030204"/>
              </a:rPr>
              <a:t>Pipeline A :</a:t>
            </a:r>
            <a:r>
              <a:rPr>
                <a:solidFill>
                  <a:srgbClr val="94A3B8"/>
                </a:solidFill>
                <a:latin typeface="Calibri" panose="020F0502020204030204"/>
              </a:rPr>
              <a:t> Applies a 0.5Hz - 40Hz bandpass filter directly to continuous signals before feature extraction. Prioritizes raw wave quality.</a:t>
            </a:r>
            <a:endParaRPr>
              <a:solidFill>
                <a:srgbClr val="94A3B8"/>
              </a:solidFill>
              <a:latin typeface="Calibri" panose="020F0502020204030204"/>
            </a:endParaRPr>
          </a:p>
          <a:p>
            <a:pPr>
              <a:spcAft>
                <a:spcPts val="800"/>
              </a:spcAft>
            </a:pPr>
            <a:r>
              <a:rPr b="1">
                <a:solidFill>
                  <a:srgbClr val="FFFFFF"/>
                </a:solidFill>
                <a:latin typeface="Calibri" panose="020F0502020204030204"/>
              </a:rPr>
              <a:t>Pipeline B :</a:t>
            </a:r>
            <a:r>
              <a:rPr>
                <a:solidFill>
                  <a:srgbClr val="94A3B8"/>
                </a:solidFill>
                <a:latin typeface="Calibri" panose="020F0502020204030204"/>
              </a:rPr>
              <a:t> Extracts features directly from raw noisy waves, standardizes, and uses PCA to compress to 95% variance. Prioritizes linear representation.</a:t>
            </a:r>
            <a:endParaRPr>
              <a:solidFill>
                <a:srgbClr val="94A3B8"/>
              </a:solidFill>
              <a:latin typeface="Calibri" panose="020F0502020204030204"/>
            </a:endParaRPr>
          </a:p>
          <a:p>
            <a:pPr>
              <a:spcAft>
                <a:spcPts val="800"/>
              </a:spcAft>
            </a:pPr>
            <a:r>
              <a:rPr b="1">
                <a:solidFill>
                  <a:srgbClr val="FFFFFF"/>
                </a:solidFill>
                <a:latin typeface="Calibri" panose="020F0502020204030204"/>
              </a:rPr>
              <a:t>Dynamic Peak Evaluation:</a:t>
            </a:r>
            <a:r>
              <a:rPr>
                <a:solidFill>
                  <a:srgbClr val="94A3B8"/>
                </a:solidFill>
                <a:latin typeface="Calibri" panose="020F0502020204030204"/>
              </a:rPr>
              <a:t> We dynamically evaluated both pipelines and selected their maximum achieving metrics (with SMOTE) to ensure an optimal, fair comparison.</a:t>
            </a:r>
            <a:endParaRPr>
              <a:solidFill>
                <a:srgbClr val="94A3B8"/>
              </a:solidFill>
              <a:latin typeface="Calibri" panose="020F0502020204030204"/>
            </a:endParaRPr>
          </a:p>
        </p:txBody>
      </p:sp>
      <p:pic>
        <p:nvPicPr>
          <p:cNvPr id="6" name="Picture 5" descr="pipeline_metrics_comparison.png"/>
          <p:cNvPicPr>
            <a:picLocks noChangeAspect="1"/>
          </p:cNvPicPr>
          <p:nvPr/>
        </p:nvPicPr>
        <p:blipFill>
          <a:blip r:embed="rId1"/>
          <a:stretch>
            <a:fillRect/>
          </a:stretch>
        </p:blipFill>
        <p:spPr>
          <a:xfrm>
            <a:off x="4572000" y="1645285"/>
            <a:ext cx="4273550" cy="29235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BEED Tabular Performance</a:t>
            </a:r>
          </a:p>
        </p:txBody>
      </p:sp>
      <p:sp>
        <p:nvSpPr>
          <p:cNvPr id="5" name="TextBox 4"/>
          <p:cNvSpPr txBox="1"/>
          <p:nvPr/>
        </p:nvSpPr>
        <p:spPr>
          <a:xfrm>
            <a:off x="457200" y="1371600"/>
            <a:ext cx="4114800" cy="3343275"/>
          </a:xfrm>
          <a:prstGeom prst="rect">
            <a:avLst/>
          </a:prstGeom>
          <a:noFill/>
        </p:spPr>
        <p:txBody>
          <a:bodyPr wrap="square">
            <a:spAutoFit/>
          </a:bodyPr>
          <a:lstStyle/>
          <a:p>
            <a:pPr>
              <a:spcAft>
                <a:spcPts val="800"/>
              </a:spcAft>
            </a:pPr>
            <a:r>
              <a:rPr b="1">
                <a:solidFill>
                  <a:srgbClr val="FFFFFF"/>
                </a:solidFill>
                <a:latin typeface="Calibri" panose="020F0502020204030204"/>
              </a:rPr>
              <a:t>Symmetric Balance:</a:t>
            </a:r>
            <a:r>
              <a:rPr>
                <a:solidFill>
                  <a:srgbClr val="94A3B8"/>
                </a:solidFill>
                <a:latin typeface="Calibri" panose="020F0502020204030204"/>
              </a:rPr>
              <a:t> Being static tabular data, both pipelines achieve identical peak F1-scores (~0.888).</a:t>
            </a:r>
            <a:endParaRPr>
              <a:solidFill>
                <a:srgbClr val="94A3B8"/>
              </a:solidFill>
              <a:latin typeface="Calibri" panose="020F0502020204030204"/>
            </a:endParaRPr>
          </a:p>
          <a:p>
            <a:pPr>
              <a:spcAft>
                <a:spcPts val="800"/>
              </a:spcAft>
            </a:pPr>
            <a:r>
              <a:rPr b="1">
                <a:solidFill>
                  <a:srgbClr val="FFFFFF"/>
                </a:solidFill>
                <a:latin typeface="Calibri" panose="020F0502020204030204"/>
              </a:rPr>
              <a:t>SMOTE Degradation:</a:t>
            </a:r>
            <a:r>
              <a:rPr>
                <a:solidFill>
                  <a:srgbClr val="94A3B8"/>
                </a:solidFill>
                <a:latin typeface="Calibri" panose="020F0502020204030204"/>
              </a:rPr>
              <a:t> Applying SMOTE actually degraded BEED's performance (F1 fell from 0.885 to 0.709) because BEED is already highly structured. Synthesizing numbers creates unrealistic clinical states.</a:t>
            </a:r>
            <a:endParaRPr>
              <a:solidFill>
                <a:srgbClr val="94A3B8"/>
              </a:solidFill>
              <a:latin typeface="Calibri" panose="020F0502020204030204"/>
            </a:endParaRPr>
          </a:p>
          <a:p>
            <a:pPr>
              <a:spcAft>
                <a:spcPts val="800"/>
              </a:spcAft>
            </a:pPr>
            <a:r>
              <a:rPr b="1">
                <a:solidFill>
                  <a:srgbClr val="FFFFFF"/>
                </a:solidFill>
                <a:latin typeface="Calibri" panose="020F0502020204030204"/>
              </a:rPr>
              <a:t>Optimal Model:</a:t>
            </a:r>
            <a:r>
              <a:rPr>
                <a:solidFill>
                  <a:srgbClr val="94A3B8"/>
                </a:solidFill>
                <a:latin typeface="Calibri" panose="020F0502020204030204"/>
              </a:rPr>
              <a:t> Standard Logistic Regression baseline works best on pre-extracted clinical tables.</a:t>
            </a:r>
            <a:endParaRPr>
              <a:solidFill>
                <a:srgbClr val="94A3B8"/>
              </a:solidFill>
              <a:latin typeface="Calibri" panose="020F0502020204030204"/>
            </a:endParaRPr>
          </a:p>
        </p:txBody>
      </p:sp>
      <p:pic>
        <p:nvPicPr>
          <p:cNvPr id="6" name="Picture 5" descr="imbalance_pr_tradeoff_Pipeline_A.png"/>
          <p:cNvPicPr>
            <a:picLocks noChangeAspect="1"/>
          </p:cNvPicPr>
          <p:nvPr/>
        </p:nvPicPr>
        <p:blipFill>
          <a:blip r:embed="rId1"/>
          <a:stretch>
            <a:fillRect/>
          </a:stretch>
        </p:blipFill>
        <p:spPr>
          <a:xfrm>
            <a:off x="4572000" y="1494155"/>
            <a:ext cx="4114800" cy="3358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Seizure Recognition Performance</a:t>
            </a:r>
          </a:p>
        </p:txBody>
      </p:sp>
      <p:sp>
        <p:nvSpPr>
          <p:cNvPr id="5" name="TextBox 4"/>
          <p:cNvSpPr txBox="1"/>
          <p:nvPr/>
        </p:nvSpPr>
        <p:spPr>
          <a:xfrm>
            <a:off x="457200" y="1371600"/>
            <a:ext cx="4114800" cy="3343275"/>
          </a:xfrm>
          <a:prstGeom prst="rect">
            <a:avLst/>
          </a:prstGeom>
          <a:noFill/>
        </p:spPr>
        <p:txBody>
          <a:bodyPr wrap="square">
            <a:spAutoFit/>
          </a:bodyPr>
          <a:lstStyle/>
          <a:p>
            <a:pPr>
              <a:spcAft>
                <a:spcPts val="800"/>
              </a:spcAft>
            </a:pPr>
            <a:r>
              <a:rPr b="1">
                <a:solidFill>
                  <a:srgbClr val="FFFFFF"/>
                </a:solidFill>
                <a:latin typeface="Calibri" panose="020F0502020204030204"/>
              </a:rPr>
              <a:t>High Performance (F1 0.910):</a:t>
            </a:r>
            <a:r>
              <a:rPr>
                <a:solidFill>
                  <a:srgbClr val="94A3B8"/>
                </a:solidFill>
                <a:latin typeface="Calibri" panose="020F0502020204030204"/>
              </a:rPr>
              <a:t> The dataset represents pre-cleaned, high-amplitude seizure waves, making separation easy.</a:t>
            </a:r>
            <a:endParaRPr>
              <a:solidFill>
                <a:srgbClr val="94A3B8"/>
              </a:solidFill>
              <a:latin typeface="Calibri" panose="020F0502020204030204"/>
            </a:endParaRPr>
          </a:p>
          <a:p>
            <a:pPr>
              <a:spcAft>
                <a:spcPts val="800"/>
              </a:spcAft>
            </a:pPr>
            <a:r>
              <a:rPr b="1">
                <a:solidFill>
                  <a:srgbClr val="FFFFFF"/>
                </a:solidFill>
                <a:latin typeface="Calibri" panose="020F0502020204030204"/>
              </a:rPr>
              <a:t>Lasso Sparsity Victory:</a:t>
            </a:r>
            <a:r>
              <a:rPr>
                <a:solidFill>
                  <a:srgbClr val="94A3B8"/>
                </a:solidFill>
                <a:latin typeface="Calibri" panose="020F0502020204030204"/>
              </a:rPr>
              <a:t> L1 regularization set 82.5% of the features to zero</a:t>
            </a:r>
            <a:r>
              <a:rPr lang="en-US">
                <a:solidFill>
                  <a:srgbClr val="94A3B8"/>
                </a:solidFill>
                <a:latin typeface="Calibri" panose="020F0502020204030204"/>
              </a:rPr>
              <a:t> </a:t>
            </a:r>
            <a:r>
              <a:rPr>
                <a:solidFill>
                  <a:srgbClr val="94A3B8"/>
                </a:solidFill>
                <a:latin typeface="Calibri" panose="020F0502020204030204"/>
              </a:rPr>
              <a:t>while maintaining 0.908 F1. This proves high sequential redundancy in consecutive raw time points.</a:t>
            </a:r>
            <a:endParaRPr>
              <a:solidFill>
                <a:srgbClr val="94A3B8"/>
              </a:solidFill>
              <a:latin typeface="Calibri" panose="020F0502020204030204"/>
            </a:endParaRPr>
          </a:p>
          <a:p>
            <a:pPr>
              <a:spcAft>
                <a:spcPts val="800"/>
              </a:spcAft>
            </a:pPr>
            <a:r>
              <a:rPr b="1">
                <a:solidFill>
                  <a:srgbClr val="FFFFFF"/>
                </a:solidFill>
                <a:latin typeface="Calibri" panose="020F0502020204030204"/>
              </a:rPr>
              <a:t>Baseline Success:</a:t>
            </a:r>
            <a:r>
              <a:rPr>
                <a:solidFill>
                  <a:srgbClr val="94A3B8"/>
                </a:solidFill>
                <a:latin typeface="Calibri" panose="020F0502020204030204"/>
              </a:rPr>
              <a:t> Model handles 20.0% class ratio efficiently even without severe balancing.</a:t>
            </a:r>
            <a:endParaRPr>
              <a:solidFill>
                <a:srgbClr val="94A3B8"/>
              </a:solidFill>
              <a:latin typeface="Calibri" panose="020F0502020204030204"/>
            </a:endParaRPr>
          </a:p>
        </p:txBody>
      </p:sp>
      <p:pic>
        <p:nvPicPr>
          <p:cNvPr id="6" name="Picture 5" descr="imbalance_pr_tradeoff_Pipeline_A.png"/>
          <p:cNvPicPr>
            <a:picLocks noChangeAspect="1"/>
          </p:cNvPicPr>
          <p:nvPr/>
        </p:nvPicPr>
        <p:blipFill>
          <a:blip r:embed="rId1"/>
          <a:stretch>
            <a:fillRect/>
          </a:stretch>
        </p:blipFill>
        <p:spPr>
          <a:xfrm>
            <a:off x="4710430" y="1365885"/>
            <a:ext cx="4114800" cy="33489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1016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EEG Seizure Analysis (3-D Raw)</a:t>
            </a:r>
          </a:p>
        </p:txBody>
      </p:sp>
      <p:sp>
        <p:nvSpPr>
          <p:cNvPr id="5" name="TextBox 4"/>
          <p:cNvSpPr txBox="1"/>
          <p:nvPr/>
        </p:nvSpPr>
        <p:spPr>
          <a:xfrm>
            <a:off x="457200" y="1371600"/>
            <a:ext cx="4114800" cy="3066415"/>
          </a:xfrm>
          <a:prstGeom prst="rect">
            <a:avLst/>
          </a:prstGeom>
          <a:noFill/>
        </p:spPr>
        <p:txBody>
          <a:bodyPr wrap="square">
            <a:spAutoFit/>
          </a:bodyPr>
          <a:lstStyle/>
          <a:p>
            <a:pPr>
              <a:spcAft>
                <a:spcPts val="800"/>
              </a:spcAft>
            </a:pPr>
            <a:r>
              <a:rPr b="1">
                <a:solidFill>
                  <a:srgbClr val="FFFFFF"/>
                </a:solidFill>
                <a:latin typeface="Calibri" panose="020F0502020204030204"/>
              </a:rPr>
              <a:t>Clinical Reality:</a:t>
            </a:r>
            <a:r>
              <a:rPr>
                <a:solidFill>
                  <a:srgbClr val="94A3B8"/>
                </a:solidFill>
                <a:latin typeface="Calibri" panose="020F0502020204030204"/>
              </a:rPr>
              <a:t> Baseline model fails completely (F1 0.000) by blindly guessing the majority class to get 78.3% accuracy.</a:t>
            </a:r>
            <a:endParaRPr>
              <a:solidFill>
                <a:srgbClr val="94A3B8"/>
              </a:solidFill>
              <a:latin typeface="Calibri" panose="020F0502020204030204"/>
            </a:endParaRPr>
          </a:p>
          <a:p>
            <a:pPr>
              <a:spcAft>
                <a:spcPts val="800"/>
              </a:spcAft>
            </a:pPr>
            <a:r>
              <a:rPr b="1">
                <a:solidFill>
                  <a:srgbClr val="FFFFFF"/>
                </a:solidFill>
                <a:latin typeface="Calibri" panose="020F0502020204030204"/>
              </a:rPr>
              <a:t>SMOTE Unlock:</a:t>
            </a:r>
            <a:r>
              <a:rPr>
                <a:solidFill>
                  <a:srgbClr val="94A3B8"/>
                </a:solidFill>
                <a:latin typeface="Calibri" panose="020F0502020204030204"/>
              </a:rPr>
              <a:t> Balancing the training fold strictly before testing raised the F1 score immediately to 0.371.</a:t>
            </a:r>
            <a:endParaRPr>
              <a:solidFill>
                <a:srgbClr val="94A3B8"/>
              </a:solidFill>
              <a:latin typeface="Calibri" panose="020F0502020204030204"/>
            </a:endParaRPr>
          </a:p>
          <a:p>
            <a:pPr>
              <a:spcAft>
                <a:spcPts val="800"/>
              </a:spcAft>
            </a:pPr>
            <a:r>
              <a:rPr b="1">
                <a:solidFill>
                  <a:srgbClr val="FFFFFF"/>
                </a:solidFill>
                <a:latin typeface="Calibri" panose="020F0502020204030204"/>
              </a:rPr>
              <a:t>Mesy Clinical Waveforms:</a:t>
            </a:r>
            <a:r>
              <a:rPr>
                <a:solidFill>
                  <a:srgbClr val="94A3B8"/>
                </a:solidFill>
                <a:latin typeface="Calibri" panose="020F0502020204030204"/>
              </a:rPr>
              <a:t> Shows the extreme difficulty of predicting raw multi-sensor waves with head movement and eye blink noise.</a:t>
            </a:r>
            <a:endParaRPr>
              <a:solidFill>
                <a:srgbClr val="94A3B8"/>
              </a:solidFill>
              <a:latin typeface="Calibri" panose="020F0502020204030204"/>
            </a:endParaRPr>
          </a:p>
        </p:txBody>
      </p:sp>
      <p:pic>
        <p:nvPicPr>
          <p:cNvPr id="6" name="Picture 5" descr="imbalance_pr_tradeoff_Pipeline_A.png"/>
          <p:cNvPicPr>
            <a:picLocks noChangeAspect="1"/>
          </p:cNvPicPr>
          <p:nvPr/>
        </p:nvPicPr>
        <p:blipFill>
          <a:blip r:embed="rId1"/>
          <a:stretch>
            <a:fillRect/>
          </a:stretch>
        </p:blipFill>
        <p:spPr>
          <a:xfrm>
            <a:off x="4763770" y="1684655"/>
            <a:ext cx="4114800" cy="2880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non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none">
            <a:spAutoFit/>
          </a:bodyPr>
          <a:lstStyle/>
          <a:p>
            <a:pPr>
              <a:defRPr sz="2400" b="1">
                <a:solidFill>
                  <a:srgbClr val="FFFFFF"/>
                </a:solidFill>
                <a:latin typeface="Georgia" panose="02040502050405020303"/>
              </a:defRPr>
            </a:pPr>
            <a:r>
              <a:t>Regularization: L1 Sparsity vs. L2 Stability</a:t>
            </a:r>
          </a:p>
        </p:txBody>
      </p:sp>
      <p:sp>
        <p:nvSpPr>
          <p:cNvPr id="5" name="TextBox 4"/>
          <p:cNvSpPr txBox="1"/>
          <p:nvPr/>
        </p:nvSpPr>
        <p:spPr>
          <a:xfrm>
            <a:off x="457200" y="1371600"/>
            <a:ext cx="4114800" cy="4076700"/>
          </a:xfrm>
          <a:prstGeom prst="rect">
            <a:avLst/>
          </a:prstGeom>
          <a:noFill/>
        </p:spPr>
        <p:txBody>
          <a:bodyPr wrap="square">
            <a:spAutoFit/>
          </a:bodyPr>
          <a:lstStyle/>
          <a:p>
            <a:pPr>
              <a:spcAft>
                <a:spcPts val="1000"/>
              </a:spcAft>
            </a:pPr>
            <a:r>
              <a:rPr b="1">
                <a:solidFill>
                  <a:srgbClr val="FFFFFF"/>
                </a:solidFill>
                <a:latin typeface="Calibri" panose="020F0502020204030204"/>
              </a:rPr>
              <a:t>L1 Penalty (Lasso):</a:t>
            </a:r>
            <a:r>
              <a:rPr>
                <a:solidFill>
                  <a:srgbClr val="94A3B8"/>
                </a:solidFill>
                <a:latin typeface="Calibri" panose="020F0502020204030204"/>
              </a:rPr>
              <a:t> Adds absolute weights sum .</a:t>
            </a:r>
            <a:endParaRPr>
              <a:solidFill>
                <a:srgbClr val="94A3B8"/>
              </a:solidFill>
              <a:latin typeface="Calibri" panose="020F0502020204030204"/>
            </a:endParaRPr>
          </a:p>
          <a:p>
            <a:pPr>
              <a:spcAft>
                <a:spcPts val="1000"/>
              </a:spcAft>
            </a:pPr>
            <a:r>
              <a:rPr b="1">
                <a:solidFill>
                  <a:srgbClr val="FFFFFF"/>
                </a:solidFill>
                <a:latin typeface="Calibri" panose="020F0502020204030204"/>
              </a:rPr>
              <a:t>L1 Clinical Impact:</a:t>
            </a:r>
            <a:r>
              <a:rPr>
                <a:solidFill>
                  <a:srgbClr val="94A3B8"/>
                </a:solidFill>
                <a:latin typeface="Calibri" panose="020F0502020204030204"/>
              </a:rPr>
              <a:t> Acts as an automated feature selector by driving non-informative weights to exactly zero. Lasso discarded 82.5%</a:t>
            </a:r>
            <a:r>
              <a:rPr lang="en-US">
                <a:solidFill>
                  <a:srgbClr val="94A3B8"/>
                </a:solidFill>
                <a:latin typeface="Calibri" panose="020F0502020204030204"/>
              </a:rPr>
              <a:t> </a:t>
            </a:r>
            <a:r>
              <a:rPr>
                <a:solidFill>
                  <a:srgbClr val="94A3B8"/>
                </a:solidFill>
                <a:latin typeface="Calibri" panose="020F0502020204030204"/>
              </a:rPr>
              <a:t>of Recognition features while preserving F1 (0.908).</a:t>
            </a:r>
            <a:endParaRPr>
              <a:solidFill>
                <a:srgbClr val="94A3B8"/>
              </a:solidFill>
              <a:latin typeface="Calibri" panose="020F0502020204030204"/>
            </a:endParaRPr>
          </a:p>
          <a:p>
            <a:pPr>
              <a:spcAft>
                <a:spcPts val="1000"/>
              </a:spcAft>
            </a:pPr>
            <a:r>
              <a:rPr b="1">
                <a:solidFill>
                  <a:srgbClr val="FFFFFF"/>
                </a:solidFill>
                <a:latin typeface="Calibri" panose="020F0502020204030204"/>
              </a:rPr>
              <a:t>L2 Penalty (Ridge):</a:t>
            </a:r>
            <a:r>
              <a:rPr>
                <a:solidFill>
                  <a:srgbClr val="94A3B8"/>
                </a:solidFill>
                <a:latin typeface="Calibri" panose="020F0502020204030204"/>
              </a:rPr>
              <a:t> Adds squared weights sum </a:t>
            </a:r>
            <a:r>
              <a:rPr lang="en-US">
                <a:solidFill>
                  <a:srgbClr val="94A3B8"/>
                </a:solidFill>
                <a:latin typeface="Calibri" panose="020F0502020204030204"/>
              </a:rPr>
              <a:t>.</a:t>
            </a:r>
            <a:endParaRPr>
              <a:solidFill>
                <a:srgbClr val="94A3B8"/>
              </a:solidFill>
              <a:latin typeface="Calibri" panose="020F0502020204030204"/>
            </a:endParaRPr>
          </a:p>
          <a:p>
            <a:pPr>
              <a:spcAft>
                <a:spcPts val="1000"/>
              </a:spcAft>
            </a:pPr>
            <a:r>
              <a:rPr b="1">
                <a:solidFill>
                  <a:srgbClr val="FFFFFF"/>
                </a:solidFill>
                <a:latin typeface="Calibri" panose="020F0502020204030204"/>
              </a:rPr>
              <a:t>L2 Clinical Impact:</a:t>
            </a:r>
            <a:r>
              <a:rPr>
                <a:solidFill>
                  <a:srgbClr val="94A3B8"/>
                </a:solidFill>
                <a:latin typeface="Calibri" panose="020F0502020204030204"/>
              </a:rPr>
              <a:t> Shrinks weights uniformly but keeps all features active. Ideal for clean, independent static tables (like BEED).</a:t>
            </a:r>
            <a:endParaRPr>
              <a:solidFill>
                <a:srgbClr val="94A3B8"/>
              </a:solidFill>
              <a:latin typeface="Calibri" panose="020F0502020204030204"/>
            </a:endParaRPr>
          </a:p>
        </p:txBody>
      </p:sp>
      <p:pic>
        <p:nvPicPr>
          <p:cNvPr id="6" name="Picture 5" descr="final_comparative_analysis.png"/>
          <p:cNvPicPr>
            <a:picLocks noChangeAspect="1"/>
          </p:cNvPicPr>
          <p:nvPr/>
        </p:nvPicPr>
        <p:blipFill>
          <a:blip r:embed="rId1"/>
          <a:stretch>
            <a:fillRect/>
          </a:stretch>
        </p:blipFill>
        <p:spPr>
          <a:xfrm>
            <a:off x="4572000" y="1828800"/>
            <a:ext cx="4114800" cy="27914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460375"/>
          </a:xfrm>
          <a:prstGeom prst="rect">
            <a:avLst/>
          </a:prstGeom>
          <a:noFill/>
        </p:spPr>
        <p:txBody>
          <a:bodyPr wrap="square">
            <a:spAutoFit/>
          </a:bodyPr>
          <a:lstStyle/>
          <a:p>
            <a:pPr>
              <a:defRPr sz="2400" b="1">
                <a:solidFill>
                  <a:srgbClr val="FFFFFF"/>
                </a:solidFill>
                <a:latin typeface="Georgia" panose="02040502050405020303"/>
              </a:defRPr>
            </a:pPr>
            <a:r>
              <a:t>Comparative Analysis</a:t>
            </a:r>
          </a:p>
        </p:txBody>
      </p:sp>
      <p:sp>
        <p:nvSpPr>
          <p:cNvPr id="5" name="TextBox 4"/>
          <p:cNvSpPr txBox="1"/>
          <p:nvPr/>
        </p:nvSpPr>
        <p:spPr>
          <a:xfrm>
            <a:off x="457200" y="1371600"/>
            <a:ext cx="4114800" cy="3999865"/>
          </a:xfrm>
          <a:prstGeom prst="rect">
            <a:avLst/>
          </a:prstGeom>
          <a:noFill/>
        </p:spPr>
        <p:txBody>
          <a:bodyPr wrap="square">
            <a:spAutoFit/>
          </a:bodyPr>
          <a:lstStyle/>
          <a:p>
            <a:pPr>
              <a:spcAft>
                <a:spcPts val="800"/>
              </a:spcAft>
            </a:pPr>
            <a:r>
              <a:rPr>
                <a:solidFill>
                  <a:srgbClr val="94A3B8"/>
                </a:solidFill>
                <a:latin typeface="Calibri" panose="020F0502020204030204"/>
              </a:rPr>
              <a:t> </a:t>
            </a:r>
            <a:r>
              <a:rPr lang="en-US" b="1">
                <a:solidFill>
                  <a:schemeClr val="bg1"/>
                </a:solidFill>
                <a:latin typeface="Calibri" panose="020F0502020204030204"/>
              </a:rPr>
              <a:t>PIPELINE</a:t>
            </a:r>
            <a:endParaRPr>
              <a:solidFill>
                <a:srgbClr val="94A3B8"/>
              </a:solidFill>
              <a:latin typeface="Calibri" panose="020F0502020204030204"/>
            </a:endParaRPr>
          </a:p>
          <a:p>
            <a:pPr>
              <a:spcAft>
                <a:spcPts val="800"/>
              </a:spcAft>
            </a:pPr>
            <a:r>
              <a:rPr>
                <a:solidFill>
                  <a:srgbClr val="94A3B8"/>
                </a:solidFill>
                <a:latin typeface="Calibri" panose="020F0502020204030204"/>
              </a:rPr>
              <a:t>Pipeline A (Filter-First) achieved 0.371 F1 on raw EEG, whereas Pipeline B (PCA-First) achieved 0.345. PCA on raw waveforms scales and compresses unfiltered high-frequency noise, corrupting signals.</a:t>
            </a:r>
            <a:endParaRPr>
              <a:solidFill>
                <a:srgbClr val="94A3B8"/>
              </a:solidFill>
              <a:latin typeface="Calibri" panose="020F0502020204030204"/>
            </a:endParaRPr>
          </a:p>
          <a:p>
            <a:pPr>
              <a:spcAft>
                <a:spcPts val="800"/>
              </a:spcAft>
            </a:pPr>
            <a:r>
              <a:rPr lang="en-US" b="1">
                <a:solidFill>
                  <a:schemeClr val="bg1"/>
                </a:solidFill>
                <a:latin typeface="Calibri" panose="020F0502020204030204"/>
              </a:rPr>
              <a:t>REGULARIZATION</a:t>
            </a:r>
            <a:endParaRPr b="1">
              <a:solidFill>
                <a:srgbClr val="94A3B8"/>
              </a:solidFill>
              <a:latin typeface="Calibri" panose="020F0502020204030204"/>
            </a:endParaRPr>
          </a:p>
          <a:p>
            <a:pPr>
              <a:spcAft>
                <a:spcPts val="800"/>
              </a:spcAft>
            </a:pPr>
            <a:r>
              <a:rPr>
                <a:solidFill>
                  <a:srgbClr val="94A3B8"/>
                </a:solidFill>
                <a:latin typeface="Calibri" panose="020F0502020204030204"/>
              </a:rPr>
              <a:t>L1 (Lasso) for high-dimensional time-series; L2 (Ridge) for low-dimensional static tables. Lasso acted as a sparse automated selector, discarding 82.5% of sequential redundant points.</a:t>
            </a:r>
            <a:endParaRPr>
              <a:solidFill>
                <a:srgbClr val="94A3B8"/>
              </a:solidFill>
              <a:latin typeface="Calibri" panose="020F0502020204030204"/>
            </a:endParaRPr>
          </a:p>
        </p:txBody>
      </p:sp>
      <p:pic>
        <p:nvPicPr>
          <p:cNvPr id="6" name="Picture 5" descr="final_comparative_analysis.png"/>
          <p:cNvPicPr>
            <a:picLocks noChangeAspect="1"/>
          </p:cNvPicPr>
          <p:nvPr/>
        </p:nvPicPr>
        <p:blipFill>
          <a:blip r:embed="rId1"/>
          <a:stretch>
            <a:fillRect/>
          </a:stretch>
        </p:blipFill>
        <p:spPr>
          <a:xfrm>
            <a:off x="4572000" y="1424940"/>
            <a:ext cx="4114800" cy="3083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460375"/>
          </a:xfrm>
          <a:prstGeom prst="rect">
            <a:avLst/>
          </a:prstGeom>
          <a:noFill/>
        </p:spPr>
        <p:txBody>
          <a:bodyPr wrap="square">
            <a:spAutoFit/>
          </a:bodyPr>
          <a:lstStyle/>
          <a:p>
            <a:pPr>
              <a:defRPr sz="2400" b="1">
                <a:solidFill>
                  <a:srgbClr val="FFFFFF"/>
                </a:solidFill>
                <a:latin typeface="Georgia" panose="02040502050405020303"/>
              </a:defRPr>
            </a:pPr>
            <a:r>
              <a:t>Comparative Analysis</a:t>
            </a:r>
          </a:p>
        </p:txBody>
      </p:sp>
      <p:sp>
        <p:nvSpPr>
          <p:cNvPr id="5" name="TextBox 4"/>
          <p:cNvSpPr txBox="1"/>
          <p:nvPr/>
        </p:nvSpPr>
        <p:spPr>
          <a:xfrm>
            <a:off x="457200" y="1371600"/>
            <a:ext cx="4114800" cy="3723005"/>
          </a:xfrm>
          <a:prstGeom prst="rect">
            <a:avLst/>
          </a:prstGeom>
          <a:noFill/>
        </p:spPr>
        <p:txBody>
          <a:bodyPr wrap="square">
            <a:spAutoFit/>
          </a:bodyPr>
          <a:lstStyle/>
          <a:p>
            <a:pPr>
              <a:spcAft>
                <a:spcPts val="800"/>
              </a:spcAft>
            </a:pPr>
            <a:r>
              <a:rPr lang="en-US" b="1">
                <a:solidFill>
                  <a:schemeClr val="bg1"/>
                </a:solidFill>
                <a:latin typeface="Calibri" panose="020F0502020204030204"/>
              </a:rPr>
              <a:t>ELASTIC NET</a:t>
            </a:r>
            <a:endParaRPr b="1">
              <a:solidFill>
                <a:schemeClr val="bg1"/>
              </a:solidFill>
              <a:latin typeface="Calibri" panose="020F0502020204030204"/>
            </a:endParaRPr>
          </a:p>
          <a:p>
            <a:pPr>
              <a:spcAft>
                <a:spcPts val="800"/>
              </a:spcAft>
            </a:pPr>
            <a:r>
              <a:rPr>
                <a:solidFill>
                  <a:srgbClr val="94A3B8"/>
                </a:solidFill>
                <a:latin typeface="Calibri" panose="020F0502020204030204"/>
              </a:rPr>
              <a:t> It introduces massive parameter complexity (tuning C and l1_ratio) and takes 10x longer to converge, without yielding meaningful gains over a tuned L1/L2.</a:t>
            </a:r>
            <a:endParaRPr>
              <a:solidFill>
                <a:srgbClr val="94A3B8"/>
              </a:solidFill>
              <a:latin typeface="Calibri" panose="020F0502020204030204"/>
            </a:endParaRPr>
          </a:p>
          <a:p>
            <a:pPr>
              <a:spcAft>
                <a:spcPts val="800"/>
              </a:spcAft>
            </a:pPr>
            <a:r>
              <a:rPr lang="en-US" b="1">
                <a:solidFill>
                  <a:schemeClr val="bg1"/>
                </a:solidFill>
                <a:latin typeface="Calibri" panose="020F0502020204030204"/>
              </a:rPr>
              <a:t>IMBALANCE HANDLING</a:t>
            </a:r>
            <a:endParaRPr b="1">
              <a:solidFill>
                <a:schemeClr val="bg1"/>
              </a:solidFill>
              <a:latin typeface="Calibri" panose="020F0502020204030204"/>
            </a:endParaRPr>
          </a:p>
          <a:p>
            <a:pPr>
              <a:spcAft>
                <a:spcPts val="800"/>
              </a:spcAft>
            </a:pPr>
            <a:r>
              <a:rPr lang="en-US">
                <a:solidFill>
                  <a:srgbClr val="94A3B8"/>
                </a:solidFill>
                <a:latin typeface="Calibri" panose="020F0502020204030204"/>
              </a:rPr>
              <a:t>I</a:t>
            </a:r>
            <a:r>
              <a:rPr>
                <a:solidFill>
                  <a:srgbClr val="94A3B8"/>
                </a:solidFill>
                <a:latin typeface="Calibri" panose="020F0502020204030204"/>
              </a:rPr>
              <a:t>mbalance handling is a prerequisite; regularization is useless without it.** Without balancing, regularization simply shrinks the weights of a model that always guesses 'no seizure'.</a:t>
            </a:r>
            <a:endParaRPr>
              <a:solidFill>
                <a:srgbClr val="94A3B8"/>
              </a:solidFill>
              <a:latin typeface="Calibri" panose="020F0502020204030204"/>
            </a:endParaRPr>
          </a:p>
        </p:txBody>
      </p:sp>
      <p:pic>
        <p:nvPicPr>
          <p:cNvPr id="6" name="Picture 5" descr="pipeline_metrics_comparison.png"/>
          <p:cNvPicPr>
            <a:picLocks noChangeAspect="1"/>
          </p:cNvPicPr>
          <p:nvPr/>
        </p:nvPicPr>
        <p:blipFill>
          <a:blip r:embed="rId1"/>
          <a:stretch>
            <a:fillRect/>
          </a:stretch>
        </p:blipFill>
        <p:spPr>
          <a:xfrm>
            <a:off x="4572000" y="1834515"/>
            <a:ext cx="4114800" cy="2755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1016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square">
            <a:spAutoFit/>
          </a:bodyPr>
          <a:lstStyle/>
          <a:p>
            <a:pPr>
              <a:defRPr sz="900" b="1">
                <a:solidFill>
                  <a:srgbClr val="0D9488"/>
                </a:solidFill>
                <a:latin typeface="Calibri" panose="020F0502020204030204"/>
              </a:defRPr>
            </a:pPr>
            <a:r>
              <a:t>SUMMARY</a:t>
            </a:r>
          </a:p>
        </p:txBody>
      </p:sp>
      <p:sp>
        <p:nvSpPr>
          <p:cNvPr id="4" name="TextBox 3"/>
          <p:cNvSpPr txBox="1"/>
          <p:nvPr/>
        </p:nvSpPr>
        <p:spPr>
          <a:xfrm>
            <a:off x="457200" y="457200"/>
            <a:ext cx="8229600" cy="731520"/>
          </a:xfrm>
          <a:prstGeom prst="rect">
            <a:avLst/>
          </a:prstGeom>
          <a:noFill/>
        </p:spPr>
        <p:txBody>
          <a:bodyPr wrap="square">
            <a:spAutoFit/>
          </a:bodyPr>
          <a:lstStyle/>
          <a:p>
            <a:pPr>
              <a:defRPr sz="2400" b="1">
                <a:solidFill>
                  <a:srgbClr val="FFFFFF"/>
                </a:solidFill>
                <a:latin typeface="Georgia" panose="02040502050405020303"/>
              </a:defRPr>
            </a:pPr>
            <a:r>
              <a:t>Summary &amp; Key Takeaways</a:t>
            </a:r>
          </a:p>
        </p:txBody>
      </p:sp>
      <p:sp>
        <p:nvSpPr>
          <p:cNvPr id="5" name="TextBox 4"/>
          <p:cNvSpPr txBox="1"/>
          <p:nvPr/>
        </p:nvSpPr>
        <p:spPr>
          <a:xfrm>
            <a:off x="914400" y="1645920"/>
            <a:ext cx="7315200" cy="2768600"/>
          </a:xfrm>
          <a:prstGeom prst="rect">
            <a:avLst/>
          </a:prstGeom>
          <a:noFill/>
        </p:spPr>
        <p:txBody>
          <a:bodyPr wrap="square">
            <a:spAutoFit/>
          </a:bodyPr>
          <a:lstStyle/>
          <a:p>
            <a:pPr>
              <a:spcAft>
                <a:spcPts val="1400"/>
              </a:spcAft>
            </a:pPr>
            <a:r>
              <a:rPr sz="1600" b="1">
                <a:solidFill>
                  <a:srgbClr val="FFFFFF"/>
                </a:solidFill>
                <a:latin typeface="Calibri" panose="020F0502020204030204"/>
              </a:rPr>
              <a:t>1. Order of Preprocessing Matters:</a:t>
            </a:r>
            <a:r>
              <a:rPr sz="1500">
                <a:solidFill>
                  <a:srgbClr val="94A3B8"/>
                </a:solidFill>
                <a:latin typeface="Calibri" panose="020F0502020204030204"/>
              </a:rPr>
              <a:t> Filtering must occur before feature extraction or PCA to prevent compressing noise.</a:t>
            </a:r>
            <a:endParaRPr sz="1500">
              <a:solidFill>
                <a:srgbClr val="94A3B8"/>
              </a:solidFill>
              <a:latin typeface="Calibri" panose="020F0502020204030204"/>
            </a:endParaRPr>
          </a:p>
          <a:p>
            <a:pPr>
              <a:spcAft>
                <a:spcPts val="1400"/>
              </a:spcAft>
            </a:pPr>
            <a:r>
              <a:rPr sz="1600" b="1">
                <a:solidFill>
                  <a:srgbClr val="FFFFFF"/>
                </a:solidFill>
                <a:latin typeface="Calibri" panose="020F0502020204030204"/>
              </a:rPr>
              <a:t>2. Regularization is Useless Without Imbalance Handling:</a:t>
            </a:r>
            <a:r>
              <a:rPr sz="1500">
                <a:solidFill>
                  <a:srgbClr val="94A3B8"/>
                </a:solidFill>
                <a:latin typeface="Calibri" panose="020F0502020204030204"/>
              </a:rPr>
              <a:t> You must balance the training fold first before regularization can prevent overfitting.</a:t>
            </a:r>
            <a:endParaRPr sz="1500">
              <a:solidFill>
                <a:srgbClr val="94A3B8"/>
              </a:solidFill>
              <a:latin typeface="Calibri" panose="020F0502020204030204"/>
            </a:endParaRPr>
          </a:p>
          <a:p>
            <a:pPr>
              <a:spcAft>
                <a:spcPts val="1400"/>
              </a:spcAft>
            </a:pPr>
            <a:r>
              <a:rPr sz="1600" b="1">
                <a:solidFill>
                  <a:srgbClr val="FFFFFF"/>
                </a:solidFill>
                <a:latin typeface="Calibri" panose="020F0502020204030204"/>
              </a:rPr>
              <a:t>3. L1 Lasso is a Clinical Feature Selector:</a:t>
            </a:r>
            <a:r>
              <a:rPr sz="1500">
                <a:solidFill>
                  <a:srgbClr val="94A3B8"/>
                </a:solidFill>
                <a:latin typeface="Calibri" panose="020F0502020204030204"/>
              </a:rPr>
              <a:t> Discarding redundant consecutive sequence steps prevents overfitting to high-frequency artifacts.</a:t>
            </a:r>
            <a:endParaRPr sz="1500">
              <a:solidFill>
                <a:srgbClr val="94A3B8"/>
              </a:solidFill>
              <a:latin typeface="Calibri" panose="020F0502020204030204"/>
            </a:endParaRPr>
          </a:p>
          <a:p>
            <a:pPr>
              <a:spcAft>
                <a:spcPts val="1400"/>
              </a:spcAft>
            </a:pPr>
            <a:r>
              <a:rPr sz="1600" b="1">
                <a:solidFill>
                  <a:srgbClr val="FFFFFF"/>
                </a:solidFill>
                <a:latin typeface="Calibri" panose="020F0502020204030204"/>
              </a:rPr>
              <a:t>4. Real-world Clinical Challenges:</a:t>
            </a:r>
            <a:r>
              <a:rPr sz="1500">
                <a:solidFill>
                  <a:srgbClr val="94A3B8"/>
                </a:solidFill>
                <a:latin typeface="Calibri" panose="020F0502020204030204"/>
              </a:rPr>
              <a:t> The low F1 score on raw 3-D data (0.371) compared to academic datasets (0.910) proves that real-world deployment requires advanced multi-channel spatial preprocessing.</a:t>
            </a:r>
            <a:endParaRPr sz="1500">
              <a:solidFill>
                <a:srgbClr val="94A3B8"/>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5908</Words>
  <Application>WPS Presentation</Application>
  <PresentationFormat>On-screen Show (4:3)</PresentationFormat>
  <Paragraphs>107</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Arial</vt:lpstr>
      <vt:lpstr>Georgia</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Hashir Ali</cp:lastModifiedBy>
  <cp:revision>3</cp:revision>
  <dcterms:created xsi:type="dcterms:W3CDTF">2013-01-27T09:14:00Z</dcterms:created>
  <dcterms:modified xsi:type="dcterms:W3CDTF">2026-05-17T17:18:16Z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24581F621FB04C2EA0CF8517992F846B_12</vt:lpwstr>
  </property>
</Properties>
</file>