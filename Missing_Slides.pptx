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365760"/>
          </a:xfrm>
          <a:prstGeom prst="rect">
            <a:avLst/>
          </a:prstGeom>
          <a:noFill/>
        </p:spPr>
        <p:txBody>
          <a:bodyPr wrap="none">
            <a:spAutoFit/>
          </a:bodyPr>
          <a:lstStyle/>
          <a:p>
            <a:pPr>
              <a:defRPr sz="900" b="1">
                <a:solidFill>
                  <a:srgbClr val="0D9488"/>
                </a:solidFill>
                <a:latin typeface="Calibri" panose="020F0502020204030204"/>
              </a:defRPr>
            </a:pPr>
            <a:r>
              <a:t>SEIZURE PREDICTION RESEARCH</a:t>
            </a:r>
          </a:p>
        </p:txBody>
      </p:sp>
      <p:sp>
        <p:nvSpPr>
          <p:cNvPr id="4" name="TextBox 3"/>
          <p:cNvSpPr txBox="1"/>
          <p:nvPr/>
        </p:nvSpPr>
        <p:spPr>
          <a:xfrm>
            <a:off x="457200" y="457200"/>
            <a:ext cx="8229600" cy="731520"/>
          </a:xfrm>
          <a:prstGeom prst="rect">
            <a:avLst/>
          </a:prstGeom>
          <a:noFill/>
        </p:spPr>
        <p:txBody>
          <a:bodyPr wrap="none">
            <a:spAutoFit/>
          </a:bodyPr>
          <a:lstStyle/>
          <a:p>
            <a:pPr>
              <a:defRPr sz="2400" b="1">
                <a:solidFill>
                  <a:srgbClr val="FFFFFF"/>
                </a:solidFill>
                <a:latin typeface="Georgia" panose="02040502050405020303"/>
              </a:defRPr>
            </a:pPr>
            <a:r>
              <a:t>Defining Preprocessing Pipelines</a:t>
            </a:r>
          </a:p>
        </p:txBody>
      </p:sp>
      <p:sp>
        <p:nvSpPr>
          <p:cNvPr id="5" name="TextBox 4"/>
          <p:cNvSpPr txBox="1"/>
          <p:nvPr/>
        </p:nvSpPr>
        <p:spPr>
          <a:xfrm>
            <a:off x="457200" y="1477010"/>
            <a:ext cx="4114800" cy="4019550"/>
          </a:xfrm>
          <a:prstGeom prst="rect">
            <a:avLst/>
          </a:prstGeom>
          <a:noFill/>
        </p:spPr>
        <p:txBody>
          <a:bodyPr wrap="square">
            <a:noAutofit/>
          </a:bodyPr>
          <a:lstStyle/>
          <a:p>
            <a:pPr>
              <a:spcAft>
                <a:spcPts val="1000"/>
              </a:spcAft>
            </a:pPr>
            <a:r>
              <a:rPr lang="en-US" altLang="en-US" b="1">
                <a:solidFill>
                  <a:schemeClr val="bg1"/>
                </a:solidFill>
                <a:latin typeface="Calibri" panose="020F0502020204030204"/>
              </a:rPr>
              <a:t>Pipeline A (Filter-First Approach)</a:t>
            </a:r>
            <a:endParaRPr lang="en-US" altLang="en-US">
              <a:solidFill>
                <a:srgbClr val="94A3B8"/>
              </a:solidFill>
              <a:latin typeface="Calibri" panose="020F0502020204030204"/>
            </a:endParaRPr>
          </a:p>
          <a:p>
            <a:pPr>
              <a:spcAft>
                <a:spcPts val="1000"/>
              </a:spcAft>
            </a:pPr>
            <a:r>
              <a:rPr lang="en-US" altLang="en-US">
                <a:solidFill>
                  <a:srgbClr val="94A3B8"/>
                </a:solidFill>
                <a:latin typeface="Calibri" panose="020F0502020204030204"/>
              </a:rPr>
              <a:t>Raw EEG → Bandpass Filtering → Statistical Feature Extraction → Imputation (if needed)</a:t>
            </a:r>
            <a:endParaRPr lang="en-US" altLang="en-US">
              <a:solidFill>
                <a:srgbClr val="94A3B8"/>
              </a:solidFill>
              <a:latin typeface="Calibri" panose="020F0502020204030204"/>
            </a:endParaRPr>
          </a:p>
          <a:p>
            <a:pPr>
              <a:spcAft>
                <a:spcPts val="1000"/>
              </a:spcAft>
            </a:pPr>
            <a:r>
              <a:rPr lang="en-US" altLang="en-US" b="1">
                <a:solidFill>
                  <a:schemeClr val="bg1"/>
                </a:solidFill>
                <a:latin typeface="Calibri" panose="020F0502020204030204"/>
              </a:rPr>
              <a:t>Rationale:</a:t>
            </a:r>
            <a:endParaRPr lang="en-US" altLang="en-US" b="1">
              <a:solidFill>
                <a:schemeClr val="bg1"/>
              </a:solidFill>
              <a:latin typeface="Calibri" panose="020F0502020204030204"/>
            </a:endParaRPr>
          </a:p>
          <a:p>
            <a:pPr>
              <a:spcAft>
                <a:spcPts val="1000"/>
              </a:spcAft>
            </a:pPr>
            <a:r>
              <a:rPr lang="en-US" altLang="en-US">
                <a:solidFill>
                  <a:srgbClr val="94A3B8"/>
                </a:solidFill>
                <a:latin typeface="Calibri" panose="020F0502020204030204"/>
              </a:rPr>
              <a:t>Applies bandpass filtering (0.5–40 Hz) before feature extraction to remove noise such as muscle artifacts and power line interference. This ensures that statistical features are computed on a cleaner neural signal, improving signal-to-noise ratio and feature stability.</a:t>
            </a:r>
            <a:endParaRPr lang="en-US" altLang="en-US">
              <a:solidFill>
                <a:srgbClr val="94A3B8"/>
              </a:solidFill>
              <a:latin typeface="Calibri" panose="020F0502020204030204"/>
            </a:endParaRPr>
          </a:p>
          <a:p>
            <a:pPr>
              <a:spcAft>
                <a:spcPts val="1000"/>
              </a:spcAft>
            </a:pPr>
            <a:endParaRPr lang="en-US" altLang="en-US" sz="1300">
              <a:solidFill>
                <a:srgbClr val="94A3B8"/>
              </a:solidFill>
              <a:latin typeface="Calibri" panose="020F0502020204030204"/>
            </a:endParaRPr>
          </a:p>
        </p:txBody>
      </p:sp>
      <p:sp>
        <p:nvSpPr>
          <p:cNvPr id="7" name="TextBox 4"/>
          <p:cNvSpPr txBox="1"/>
          <p:nvPr/>
        </p:nvSpPr>
        <p:spPr>
          <a:xfrm>
            <a:off x="4896485" y="1477010"/>
            <a:ext cx="4114800" cy="4086225"/>
          </a:xfrm>
          <a:prstGeom prst="rect">
            <a:avLst/>
          </a:prstGeom>
          <a:noFill/>
        </p:spPr>
        <p:txBody>
          <a:bodyPr wrap="square">
            <a:noAutofit/>
          </a:bodyPr>
          <a:lstStyle/>
          <a:p>
            <a:pPr>
              <a:spcAft>
                <a:spcPts val="1000"/>
              </a:spcAft>
            </a:pPr>
            <a:r>
              <a:rPr lang="en-US" altLang="en-US" b="1">
                <a:solidFill>
                  <a:schemeClr val="bg1"/>
                </a:solidFill>
                <a:latin typeface="Calibri" panose="020F0502020204030204"/>
              </a:rPr>
              <a:t>Pipeline B (Feature-First + Dimensionality Reduction)</a:t>
            </a:r>
            <a:endParaRPr lang="en-US" altLang="en-US">
              <a:solidFill>
                <a:srgbClr val="94A3B8"/>
              </a:solidFill>
              <a:latin typeface="Calibri" panose="020F0502020204030204"/>
            </a:endParaRPr>
          </a:p>
          <a:p>
            <a:pPr>
              <a:spcAft>
                <a:spcPts val="1000"/>
              </a:spcAft>
            </a:pPr>
            <a:r>
              <a:rPr lang="en-US" altLang="en-US">
                <a:solidFill>
                  <a:srgbClr val="94A3B8"/>
                </a:solidFill>
                <a:latin typeface="Calibri" panose="020F0502020204030204"/>
              </a:rPr>
              <a:t>Raw EEG → Statistical Feature Extraction → Scaling → PCA (95% variance retention)</a:t>
            </a:r>
            <a:endParaRPr lang="en-US" altLang="en-US">
              <a:solidFill>
                <a:srgbClr val="94A3B8"/>
              </a:solidFill>
              <a:latin typeface="Calibri" panose="020F0502020204030204"/>
            </a:endParaRPr>
          </a:p>
          <a:p>
            <a:pPr>
              <a:spcAft>
                <a:spcPts val="1000"/>
              </a:spcAft>
            </a:pPr>
            <a:r>
              <a:rPr lang="en-US" altLang="en-US" b="1">
                <a:solidFill>
                  <a:schemeClr val="bg1"/>
                </a:solidFill>
                <a:latin typeface="Calibri" panose="020F0502020204030204"/>
              </a:rPr>
              <a:t>Rationale:</a:t>
            </a:r>
            <a:endParaRPr lang="en-US" altLang="en-US" b="1">
              <a:solidFill>
                <a:schemeClr val="bg1"/>
              </a:solidFill>
              <a:latin typeface="Calibri" panose="020F0502020204030204"/>
            </a:endParaRPr>
          </a:p>
          <a:p>
            <a:pPr>
              <a:spcAft>
                <a:spcPts val="1000"/>
              </a:spcAft>
            </a:pPr>
            <a:r>
              <a:rPr lang="en-US" altLang="en-US">
                <a:solidFill>
                  <a:srgbClr val="94A3B8"/>
                </a:solidFill>
                <a:latin typeface="Calibri" panose="020F0502020204030204"/>
              </a:rPr>
              <a:t>Extracts statistical features directly from raw EEG signals, which may still contain noise. Standardization is applied to normalize feature scales, followed by PCA to reduce redundancy and compress feature space while retaining most variance.</a:t>
            </a:r>
            <a:endParaRPr lang="en-US" altLang="en-US">
              <a:solidFill>
                <a:srgbClr val="94A3B8"/>
              </a:solidFill>
              <a:latin typeface="Calibri" panose="020F0502020204030204"/>
            </a:endParaRPr>
          </a:p>
          <a:p>
            <a:pPr>
              <a:spcAft>
                <a:spcPts val="1000"/>
              </a:spcAft>
            </a:pPr>
            <a:endParaRPr lang="en-US" altLang="en-US" sz="1300">
              <a:solidFill>
                <a:srgbClr val="94A3B8"/>
              </a:solidFill>
              <a:latin typeface="Calibri" panose="020F0502020204030204"/>
            </a:endParaRPr>
          </a:p>
          <a:p>
            <a:pPr>
              <a:spcAft>
                <a:spcPts val="1000"/>
              </a:spcAft>
            </a:pPr>
            <a:endParaRPr lang="en-US" altLang="en-US" sz="1300">
              <a:solidFill>
                <a:srgbClr val="94A3B8"/>
              </a:solidFill>
              <a:latin typeface="Calibri" panose="020F0502020204030204"/>
            </a:endParaRPr>
          </a:p>
          <a:p>
            <a:pPr>
              <a:spcAft>
                <a:spcPts val="1000"/>
              </a:spcAft>
            </a:pPr>
            <a:endParaRPr lang="en-US" altLang="en-US" sz="1300">
              <a:solidFill>
                <a:srgbClr val="94A3B8"/>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9144000"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365760"/>
          </a:xfrm>
          <a:prstGeom prst="rect">
            <a:avLst/>
          </a:prstGeom>
          <a:noFill/>
        </p:spPr>
        <p:txBody>
          <a:bodyPr wrap="none">
            <a:spAutoFit/>
          </a:bodyPr>
          <a:lstStyle/>
          <a:p>
            <a:pPr>
              <a:defRPr sz="900" b="1">
                <a:solidFill>
                  <a:srgbClr val="0D9488"/>
                </a:solidFill>
                <a:latin typeface="Calibri" panose="020F0502020204030204"/>
              </a:defRPr>
            </a:pPr>
            <a:r>
              <a:t>SEIZURE PREDICTION RESEARCH</a:t>
            </a:r>
          </a:p>
        </p:txBody>
      </p:sp>
      <p:sp>
        <p:nvSpPr>
          <p:cNvPr id="4" name="TextBox 3"/>
          <p:cNvSpPr txBox="1"/>
          <p:nvPr/>
        </p:nvSpPr>
        <p:spPr>
          <a:xfrm>
            <a:off x="457200" y="457200"/>
            <a:ext cx="8229600" cy="731520"/>
          </a:xfrm>
          <a:prstGeom prst="rect">
            <a:avLst/>
          </a:prstGeom>
          <a:noFill/>
        </p:spPr>
        <p:txBody>
          <a:bodyPr wrap="none">
            <a:spAutoFit/>
          </a:bodyPr>
          <a:lstStyle/>
          <a:p>
            <a:pPr>
              <a:defRPr sz="2400" b="1">
                <a:solidFill>
                  <a:srgbClr val="FFFFFF"/>
                </a:solidFill>
                <a:latin typeface="Georgia" panose="02040502050405020303"/>
              </a:defRPr>
            </a:pPr>
            <a:r>
              <a:t>Regularization: L1 Sparsity vs. L2 Stability</a:t>
            </a:r>
          </a:p>
        </p:txBody>
      </p:sp>
      <p:sp>
        <p:nvSpPr>
          <p:cNvPr id="5" name="TextBox 4"/>
          <p:cNvSpPr txBox="1"/>
          <p:nvPr/>
        </p:nvSpPr>
        <p:spPr>
          <a:xfrm>
            <a:off x="457200" y="1371600"/>
            <a:ext cx="4114800" cy="4076700"/>
          </a:xfrm>
          <a:prstGeom prst="rect">
            <a:avLst/>
          </a:prstGeom>
          <a:noFill/>
        </p:spPr>
        <p:txBody>
          <a:bodyPr wrap="square">
            <a:spAutoFit/>
          </a:bodyPr>
          <a:lstStyle/>
          <a:p>
            <a:pPr>
              <a:spcAft>
                <a:spcPts val="1000"/>
              </a:spcAft>
            </a:pPr>
            <a:r>
              <a:rPr b="1">
                <a:solidFill>
                  <a:srgbClr val="FFFFFF"/>
                </a:solidFill>
                <a:latin typeface="Calibri" panose="020F0502020204030204"/>
              </a:rPr>
              <a:t>L1 Penalty (Lasso):</a:t>
            </a:r>
            <a:r>
              <a:rPr>
                <a:solidFill>
                  <a:srgbClr val="94A3B8"/>
                </a:solidFill>
                <a:latin typeface="Calibri" panose="020F0502020204030204"/>
              </a:rPr>
              <a:t> Adds absolute weights sum .</a:t>
            </a:r>
            <a:endParaRPr>
              <a:solidFill>
                <a:srgbClr val="94A3B8"/>
              </a:solidFill>
              <a:latin typeface="Calibri" panose="020F0502020204030204"/>
            </a:endParaRPr>
          </a:p>
          <a:p>
            <a:pPr>
              <a:spcAft>
                <a:spcPts val="1000"/>
              </a:spcAft>
            </a:pPr>
            <a:r>
              <a:rPr b="1">
                <a:solidFill>
                  <a:srgbClr val="FFFFFF"/>
                </a:solidFill>
                <a:latin typeface="Calibri" panose="020F0502020204030204"/>
              </a:rPr>
              <a:t>L1 Clinical Impact:</a:t>
            </a:r>
            <a:r>
              <a:rPr>
                <a:solidFill>
                  <a:srgbClr val="94A3B8"/>
                </a:solidFill>
                <a:latin typeface="Calibri" panose="020F0502020204030204"/>
              </a:rPr>
              <a:t> Acts as an automated feature selector by driving non-informative weights to exactly zero. Lasso discarded 82.5%</a:t>
            </a:r>
            <a:r>
              <a:rPr lang="en-US">
                <a:solidFill>
                  <a:srgbClr val="94A3B8"/>
                </a:solidFill>
                <a:latin typeface="Calibri" panose="020F0502020204030204"/>
              </a:rPr>
              <a:t> </a:t>
            </a:r>
            <a:r>
              <a:rPr>
                <a:solidFill>
                  <a:srgbClr val="94A3B8"/>
                </a:solidFill>
                <a:latin typeface="Calibri" panose="020F0502020204030204"/>
              </a:rPr>
              <a:t>of Recognition features while preserving F1 (0.908).</a:t>
            </a:r>
            <a:endParaRPr>
              <a:solidFill>
                <a:srgbClr val="94A3B8"/>
              </a:solidFill>
              <a:latin typeface="Calibri" panose="020F0502020204030204"/>
            </a:endParaRPr>
          </a:p>
          <a:p>
            <a:pPr>
              <a:spcAft>
                <a:spcPts val="1000"/>
              </a:spcAft>
            </a:pPr>
            <a:r>
              <a:rPr b="1">
                <a:solidFill>
                  <a:srgbClr val="FFFFFF"/>
                </a:solidFill>
                <a:latin typeface="Calibri" panose="020F0502020204030204"/>
              </a:rPr>
              <a:t>L2 Penalty (Ridge):</a:t>
            </a:r>
            <a:r>
              <a:rPr>
                <a:solidFill>
                  <a:srgbClr val="94A3B8"/>
                </a:solidFill>
                <a:latin typeface="Calibri" panose="020F0502020204030204"/>
              </a:rPr>
              <a:t> Adds squared weights sum </a:t>
            </a:r>
            <a:r>
              <a:rPr lang="en-US">
                <a:solidFill>
                  <a:srgbClr val="94A3B8"/>
                </a:solidFill>
                <a:latin typeface="Calibri" panose="020F0502020204030204"/>
              </a:rPr>
              <a:t>.</a:t>
            </a:r>
            <a:endParaRPr>
              <a:solidFill>
                <a:srgbClr val="94A3B8"/>
              </a:solidFill>
              <a:latin typeface="Calibri" panose="020F0502020204030204"/>
            </a:endParaRPr>
          </a:p>
          <a:p>
            <a:pPr>
              <a:spcAft>
                <a:spcPts val="1000"/>
              </a:spcAft>
            </a:pPr>
            <a:r>
              <a:rPr b="1">
                <a:solidFill>
                  <a:srgbClr val="FFFFFF"/>
                </a:solidFill>
                <a:latin typeface="Calibri" panose="020F0502020204030204"/>
              </a:rPr>
              <a:t>L2 Clinical Impact:</a:t>
            </a:r>
            <a:r>
              <a:rPr>
                <a:solidFill>
                  <a:srgbClr val="94A3B8"/>
                </a:solidFill>
                <a:latin typeface="Calibri" panose="020F0502020204030204"/>
              </a:rPr>
              <a:t> Shrinks weights uniformly but keeps all features active. Ideal for clean, independent static tables (like BEED).</a:t>
            </a:r>
            <a:endParaRPr>
              <a:solidFill>
                <a:srgbClr val="94A3B8"/>
              </a:solidFill>
              <a:latin typeface="Calibri" panose="020F0502020204030204"/>
            </a:endParaRPr>
          </a:p>
        </p:txBody>
      </p:sp>
      <p:pic>
        <p:nvPicPr>
          <p:cNvPr id="6" name="Picture 5" descr="final_comparative_analysis.png"/>
          <p:cNvPicPr>
            <a:picLocks noChangeAspect="1"/>
          </p:cNvPicPr>
          <p:nvPr/>
        </p:nvPicPr>
        <p:blipFill>
          <a:blip r:embed="rId1"/>
          <a:stretch>
            <a:fillRect/>
          </a:stretch>
        </p:blipFill>
        <p:spPr>
          <a:xfrm>
            <a:off x="4572000" y="1828800"/>
            <a:ext cx="4114800" cy="27914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1324</Words>
  <Application>WPS Presentation</Application>
  <PresentationFormat>On-screen Show (4:3)</PresentationFormat>
  <Paragraphs>27</Paragraphs>
  <Slides>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vt:i4>
      </vt:variant>
    </vt:vector>
  </HeadingPairs>
  <TitlesOfParts>
    <vt:vector size="12" baseType="lpstr">
      <vt:lpstr>Arial</vt:lpstr>
      <vt:lpstr>SimSun</vt:lpstr>
      <vt:lpstr>Wingdings</vt:lpstr>
      <vt:lpstr>Arial</vt:lpstr>
      <vt:lpstr>Calibri</vt:lpstr>
      <vt:lpstr>Georgia</vt:lpstr>
      <vt:lpstr>Microsoft YaHei</vt:lpstr>
      <vt:lpstr>Arial Unicode MS</vt:lpstr>
      <vt:lpstr>Calibri</vt:lpstr>
      <vt:lpstr>Office Theme</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Hashir Ali</cp:lastModifiedBy>
  <cp:revision>2</cp:revision>
  <dcterms:created xsi:type="dcterms:W3CDTF">2013-01-27T09:14:00Z</dcterms:created>
  <dcterms:modified xsi:type="dcterms:W3CDTF">2026-05-17T17:18:19Z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1033-12.1.0.26372</vt:lpwstr>
  </property>
  <property fmtid="{D5CDD505-2E9C-101B-9397-08002B2CF9AE}" pid="3" name="ICV">
    <vt:lpwstr>3DB2B0AE3A5C43F88DBA8A1CF31AA764_12</vt:lpwstr>
  </property>
</Properties>
</file>